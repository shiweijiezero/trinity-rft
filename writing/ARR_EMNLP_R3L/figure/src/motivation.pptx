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</p:sldIdLst>
  <p:sldSz cx="6408738" cy="4535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9" userDrawn="1">
          <p15:clr>
            <a:srgbClr val="A4A3A4"/>
          </p15:clr>
        </p15:guide>
        <p15:guide id="2" pos="20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AF50"/>
    <a:srgbClr val="F44336"/>
    <a:srgbClr val="424242"/>
    <a:srgbClr val="FF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370" autoAdjust="0"/>
    <p:restoredTop sz="94660"/>
  </p:normalViewPr>
  <p:slideViewPr>
    <p:cSldViewPr snapToGrid="0" showGuides="1">
      <p:cViewPr varScale="1">
        <p:scale>
          <a:sx n="184" d="100"/>
          <a:sy n="184" d="100"/>
        </p:scale>
        <p:origin x="352" y="176"/>
      </p:cViewPr>
      <p:guideLst>
        <p:guide orient="horz" pos="1429"/>
        <p:guide pos="20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656" y="742266"/>
            <a:ext cx="5447427" cy="1579022"/>
          </a:xfrm>
        </p:spPr>
        <p:txBody>
          <a:bodyPr anchor="b"/>
          <a:lstStyle>
            <a:lvl1pPr algn="ctr">
              <a:defRPr sz="39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092" y="2382181"/>
            <a:ext cx="4806554" cy="1095026"/>
          </a:xfrm>
        </p:spPr>
        <p:txBody>
          <a:bodyPr/>
          <a:lstStyle>
            <a:lvl1pPr marL="0" indent="0" algn="ctr">
              <a:buNone/>
              <a:defRPr sz="1587"/>
            </a:lvl1pPr>
            <a:lvl2pPr marL="302346" indent="0" algn="ctr">
              <a:buNone/>
              <a:defRPr sz="1323"/>
            </a:lvl2pPr>
            <a:lvl3pPr marL="604693" indent="0" algn="ctr">
              <a:buNone/>
              <a:defRPr sz="1190"/>
            </a:lvl3pPr>
            <a:lvl4pPr marL="907039" indent="0" algn="ctr">
              <a:buNone/>
              <a:defRPr sz="1058"/>
            </a:lvl4pPr>
            <a:lvl5pPr marL="1209385" indent="0" algn="ctr">
              <a:buNone/>
              <a:defRPr sz="1058"/>
            </a:lvl5pPr>
            <a:lvl6pPr marL="1511732" indent="0" algn="ctr">
              <a:buNone/>
              <a:defRPr sz="1058"/>
            </a:lvl6pPr>
            <a:lvl7pPr marL="1814078" indent="0" algn="ctr">
              <a:buNone/>
              <a:defRPr sz="1058"/>
            </a:lvl7pPr>
            <a:lvl8pPr marL="2116425" indent="0" algn="ctr">
              <a:buNone/>
              <a:defRPr sz="1058"/>
            </a:lvl8pPr>
            <a:lvl9pPr marL="2418771" indent="0" algn="ctr">
              <a:buNone/>
              <a:defRPr sz="105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968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49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263" y="1130724"/>
            <a:ext cx="5527537" cy="1886637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7263" y="3035209"/>
            <a:ext cx="5527537" cy="992138"/>
          </a:xfrm>
        </p:spPr>
        <p:txBody>
          <a:bodyPr/>
          <a:lstStyle>
            <a:lvl1pPr marL="0" indent="0">
              <a:buNone/>
              <a:defRPr sz="1587">
                <a:solidFill>
                  <a:schemeClr val="tx1"/>
                </a:solidFill>
              </a:defRPr>
            </a:lvl1pPr>
            <a:lvl2pPr marL="30234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2pPr>
            <a:lvl3pPr marL="604693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3pPr>
            <a:lvl4pPr marL="907039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4pPr>
            <a:lvl5pPr marL="1209385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5pPr>
            <a:lvl6pPr marL="1511732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6pPr>
            <a:lvl7pPr marL="1814078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7pPr>
            <a:lvl8pPr marL="2116425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8pPr>
            <a:lvl9pPr marL="2418771" indent="0">
              <a:buNone/>
              <a:defRPr sz="10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698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601" y="1207364"/>
            <a:ext cx="2723714" cy="2877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4423" y="1207364"/>
            <a:ext cx="2723714" cy="2877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41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435" y="241474"/>
            <a:ext cx="5527537" cy="8766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436" y="1111825"/>
            <a:ext cx="2711196" cy="544888"/>
          </a:xfrm>
        </p:spPr>
        <p:txBody>
          <a:bodyPr anchor="b"/>
          <a:lstStyle>
            <a:lvl1pPr marL="0" indent="0">
              <a:buNone/>
              <a:defRPr sz="1587" b="1"/>
            </a:lvl1pPr>
            <a:lvl2pPr marL="302346" indent="0">
              <a:buNone/>
              <a:defRPr sz="1323" b="1"/>
            </a:lvl2pPr>
            <a:lvl3pPr marL="604693" indent="0">
              <a:buNone/>
              <a:defRPr sz="1190" b="1"/>
            </a:lvl3pPr>
            <a:lvl4pPr marL="907039" indent="0">
              <a:buNone/>
              <a:defRPr sz="1058" b="1"/>
            </a:lvl4pPr>
            <a:lvl5pPr marL="1209385" indent="0">
              <a:buNone/>
              <a:defRPr sz="1058" b="1"/>
            </a:lvl5pPr>
            <a:lvl6pPr marL="1511732" indent="0">
              <a:buNone/>
              <a:defRPr sz="1058" b="1"/>
            </a:lvl6pPr>
            <a:lvl7pPr marL="1814078" indent="0">
              <a:buNone/>
              <a:defRPr sz="1058" b="1"/>
            </a:lvl7pPr>
            <a:lvl8pPr marL="2116425" indent="0">
              <a:buNone/>
              <a:defRPr sz="1058" b="1"/>
            </a:lvl8pPr>
            <a:lvl9pPr marL="2418771" indent="0">
              <a:buNone/>
              <a:defRPr sz="10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436" y="1656713"/>
            <a:ext cx="2711196" cy="2436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4424" y="1111825"/>
            <a:ext cx="2724548" cy="544888"/>
          </a:xfrm>
        </p:spPr>
        <p:txBody>
          <a:bodyPr anchor="b"/>
          <a:lstStyle>
            <a:lvl1pPr marL="0" indent="0">
              <a:buNone/>
              <a:defRPr sz="1587" b="1"/>
            </a:lvl1pPr>
            <a:lvl2pPr marL="302346" indent="0">
              <a:buNone/>
              <a:defRPr sz="1323" b="1"/>
            </a:lvl2pPr>
            <a:lvl3pPr marL="604693" indent="0">
              <a:buNone/>
              <a:defRPr sz="1190" b="1"/>
            </a:lvl3pPr>
            <a:lvl4pPr marL="907039" indent="0">
              <a:buNone/>
              <a:defRPr sz="1058" b="1"/>
            </a:lvl4pPr>
            <a:lvl5pPr marL="1209385" indent="0">
              <a:buNone/>
              <a:defRPr sz="1058" b="1"/>
            </a:lvl5pPr>
            <a:lvl6pPr marL="1511732" indent="0">
              <a:buNone/>
              <a:defRPr sz="1058" b="1"/>
            </a:lvl6pPr>
            <a:lvl7pPr marL="1814078" indent="0">
              <a:buNone/>
              <a:defRPr sz="1058" b="1"/>
            </a:lvl7pPr>
            <a:lvl8pPr marL="2116425" indent="0">
              <a:buNone/>
              <a:defRPr sz="1058" b="1"/>
            </a:lvl8pPr>
            <a:lvl9pPr marL="2418771" indent="0">
              <a:buNone/>
              <a:defRPr sz="10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4424" y="1656713"/>
            <a:ext cx="2724548" cy="2436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75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01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435" y="302366"/>
            <a:ext cx="2066985" cy="1058281"/>
          </a:xfrm>
        </p:spPr>
        <p:txBody>
          <a:bodyPr anchor="b"/>
          <a:lstStyle>
            <a:lvl1pPr>
              <a:defRPr sz="21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4548" y="653027"/>
            <a:ext cx="3244424" cy="3223136"/>
          </a:xfrm>
        </p:spPr>
        <p:txBody>
          <a:bodyPr/>
          <a:lstStyle>
            <a:lvl1pPr>
              <a:defRPr sz="2116"/>
            </a:lvl1pPr>
            <a:lvl2pPr>
              <a:defRPr sz="1852"/>
            </a:lvl2pPr>
            <a:lvl3pPr>
              <a:defRPr sz="1587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1435" y="1360646"/>
            <a:ext cx="2066985" cy="2520766"/>
          </a:xfrm>
        </p:spPr>
        <p:txBody>
          <a:bodyPr/>
          <a:lstStyle>
            <a:lvl1pPr marL="0" indent="0">
              <a:buNone/>
              <a:defRPr sz="1058"/>
            </a:lvl1pPr>
            <a:lvl2pPr marL="302346" indent="0">
              <a:buNone/>
              <a:defRPr sz="926"/>
            </a:lvl2pPr>
            <a:lvl3pPr marL="604693" indent="0">
              <a:buNone/>
              <a:defRPr sz="794"/>
            </a:lvl3pPr>
            <a:lvl4pPr marL="907039" indent="0">
              <a:buNone/>
              <a:defRPr sz="661"/>
            </a:lvl4pPr>
            <a:lvl5pPr marL="1209385" indent="0">
              <a:buNone/>
              <a:defRPr sz="661"/>
            </a:lvl5pPr>
            <a:lvl6pPr marL="1511732" indent="0">
              <a:buNone/>
              <a:defRPr sz="661"/>
            </a:lvl6pPr>
            <a:lvl7pPr marL="1814078" indent="0">
              <a:buNone/>
              <a:defRPr sz="661"/>
            </a:lvl7pPr>
            <a:lvl8pPr marL="2116425" indent="0">
              <a:buNone/>
              <a:defRPr sz="661"/>
            </a:lvl8pPr>
            <a:lvl9pPr marL="2418771" indent="0">
              <a:buNone/>
              <a:defRPr sz="6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6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435" y="302366"/>
            <a:ext cx="2066985" cy="1058281"/>
          </a:xfrm>
        </p:spPr>
        <p:txBody>
          <a:bodyPr anchor="b"/>
          <a:lstStyle>
            <a:lvl1pPr>
              <a:defRPr sz="21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4548" y="653027"/>
            <a:ext cx="3244424" cy="3223136"/>
          </a:xfrm>
        </p:spPr>
        <p:txBody>
          <a:bodyPr anchor="t"/>
          <a:lstStyle>
            <a:lvl1pPr marL="0" indent="0">
              <a:buNone/>
              <a:defRPr sz="2116"/>
            </a:lvl1pPr>
            <a:lvl2pPr marL="302346" indent="0">
              <a:buNone/>
              <a:defRPr sz="1852"/>
            </a:lvl2pPr>
            <a:lvl3pPr marL="604693" indent="0">
              <a:buNone/>
              <a:defRPr sz="1587"/>
            </a:lvl3pPr>
            <a:lvl4pPr marL="907039" indent="0">
              <a:buNone/>
              <a:defRPr sz="1323"/>
            </a:lvl4pPr>
            <a:lvl5pPr marL="1209385" indent="0">
              <a:buNone/>
              <a:defRPr sz="1323"/>
            </a:lvl5pPr>
            <a:lvl6pPr marL="1511732" indent="0">
              <a:buNone/>
              <a:defRPr sz="1323"/>
            </a:lvl6pPr>
            <a:lvl7pPr marL="1814078" indent="0">
              <a:buNone/>
              <a:defRPr sz="1323"/>
            </a:lvl7pPr>
            <a:lvl8pPr marL="2116425" indent="0">
              <a:buNone/>
              <a:defRPr sz="1323"/>
            </a:lvl8pPr>
            <a:lvl9pPr marL="2418771" indent="0">
              <a:buNone/>
              <a:defRPr sz="132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1435" y="1360646"/>
            <a:ext cx="2066985" cy="2520766"/>
          </a:xfrm>
        </p:spPr>
        <p:txBody>
          <a:bodyPr/>
          <a:lstStyle>
            <a:lvl1pPr marL="0" indent="0">
              <a:buNone/>
              <a:defRPr sz="1058"/>
            </a:lvl1pPr>
            <a:lvl2pPr marL="302346" indent="0">
              <a:buNone/>
              <a:defRPr sz="926"/>
            </a:lvl2pPr>
            <a:lvl3pPr marL="604693" indent="0">
              <a:buNone/>
              <a:defRPr sz="794"/>
            </a:lvl3pPr>
            <a:lvl4pPr marL="907039" indent="0">
              <a:buNone/>
              <a:defRPr sz="661"/>
            </a:lvl4pPr>
            <a:lvl5pPr marL="1209385" indent="0">
              <a:buNone/>
              <a:defRPr sz="661"/>
            </a:lvl5pPr>
            <a:lvl6pPr marL="1511732" indent="0">
              <a:buNone/>
              <a:defRPr sz="661"/>
            </a:lvl6pPr>
            <a:lvl7pPr marL="1814078" indent="0">
              <a:buNone/>
              <a:defRPr sz="661"/>
            </a:lvl7pPr>
            <a:lvl8pPr marL="2116425" indent="0">
              <a:buNone/>
              <a:defRPr sz="661"/>
            </a:lvl8pPr>
            <a:lvl9pPr marL="2418771" indent="0">
              <a:buNone/>
              <a:defRPr sz="6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4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34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6254" y="241473"/>
            <a:ext cx="1381884" cy="38436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601" y="241473"/>
            <a:ext cx="4065543" cy="38436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45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601" y="241474"/>
            <a:ext cx="5527537" cy="876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601" y="1207364"/>
            <a:ext cx="5527537" cy="287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601" y="4203726"/>
            <a:ext cx="1441966" cy="241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4A407-E8B5-48E4-BC08-D7F0A904B881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2895" y="4203726"/>
            <a:ext cx="2162949" cy="241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6171" y="4203726"/>
            <a:ext cx="1441966" cy="241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495A6-BFAF-4356-961B-89B598B6B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13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604693" rtl="0" eaLnBrk="1" latinLnBrk="0" hangingPunct="1">
        <a:lnSpc>
          <a:spcPct val="90000"/>
        </a:lnSpc>
        <a:spcBef>
          <a:spcPct val="0"/>
        </a:spcBef>
        <a:buNone/>
        <a:defRPr sz="2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73" indent="-151173" algn="l" defTabSz="604693" rtl="0" eaLnBrk="1" latinLnBrk="0" hangingPunct="1">
        <a:lnSpc>
          <a:spcPct val="90000"/>
        </a:lnSpc>
        <a:spcBef>
          <a:spcPts val="661"/>
        </a:spcBef>
        <a:buFont typeface="Arial" panose="020B0604020202020204" pitchFamily="34" charset="0"/>
        <a:buChar char="•"/>
        <a:defRPr sz="1852" kern="1200">
          <a:solidFill>
            <a:schemeClr val="tx1"/>
          </a:solidFill>
          <a:latin typeface="+mn-lt"/>
          <a:ea typeface="+mn-ea"/>
          <a:cs typeface="+mn-cs"/>
        </a:defRPr>
      </a:lvl1pPr>
      <a:lvl2pPr marL="453520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2pPr>
      <a:lvl3pPr marL="755866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58212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4pPr>
      <a:lvl5pPr marL="1360559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5pPr>
      <a:lvl6pPr marL="1662905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251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7pPr>
      <a:lvl8pPr marL="2267598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8pPr>
      <a:lvl9pPr marL="2569944" indent="-151173" algn="l" defTabSz="604693" rtl="0" eaLnBrk="1" latinLnBrk="0" hangingPunct="1">
        <a:lnSpc>
          <a:spcPct val="90000"/>
        </a:lnSpc>
        <a:spcBef>
          <a:spcPts val="331"/>
        </a:spcBef>
        <a:buFont typeface="Arial" panose="020B0604020202020204" pitchFamily="34" charset="0"/>
        <a:buChar char="•"/>
        <a:defRPr sz="11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1pPr>
      <a:lvl2pPr marL="302346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2pPr>
      <a:lvl3pPr marL="604693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3pPr>
      <a:lvl4pPr marL="907039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4pPr>
      <a:lvl5pPr marL="1209385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5pPr>
      <a:lvl6pPr marL="1511732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6pPr>
      <a:lvl7pPr marL="1814078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7pPr>
      <a:lvl8pPr marL="2116425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8pPr>
      <a:lvl9pPr marL="2418771" algn="l" defTabSz="604693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3.png"/><Relationship Id="rId3" Type="http://schemas.openxmlformats.org/officeDocument/2006/relationships/image" Target="../media/image2.png"/><Relationship Id="rId21" Type="http://schemas.openxmlformats.org/officeDocument/2006/relationships/image" Target="../media/image15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5" Type="http://schemas.openxmlformats.org/officeDocument/2006/relationships/image" Target="../media/image20.png"/><Relationship Id="rId2" Type="http://schemas.openxmlformats.org/officeDocument/2006/relationships/image" Target="../media/image1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23" Type="http://schemas.openxmlformats.org/officeDocument/2006/relationships/image" Target="../media/image1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2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圆角矩形 1155">
            <a:extLst>
              <a:ext uri="{FF2B5EF4-FFF2-40B4-BE49-F238E27FC236}">
                <a16:creationId xmlns:a16="http://schemas.microsoft.com/office/drawing/2014/main" id="{7D02C698-6916-99B2-7914-D475527A99F0}"/>
              </a:ext>
            </a:extLst>
          </p:cNvPr>
          <p:cNvSpPr>
            <a:spLocks/>
          </p:cNvSpPr>
          <p:nvPr/>
        </p:nvSpPr>
        <p:spPr>
          <a:xfrm>
            <a:off x="2348226" y="2365833"/>
            <a:ext cx="1175639" cy="237159"/>
          </a:xfrm>
          <a:prstGeom prst="roundRect">
            <a:avLst/>
          </a:prstGeom>
          <a:solidFill>
            <a:srgbClr val="424242">
              <a:alpha val="3603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2D47FE-6F3A-C449-A37B-74F0D2A0DF0F}"/>
              </a:ext>
            </a:extLst>
          </p:cNvPr>
          <p:cNvSpPr txBox="1"/>
          <p:nvPr/>
        </p:nvSpPr>
        <p:spPr>
          <a:xfrm>
            <a:off x="2297411" y="2351069"/>
            <a:ext cx="12772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failure because …</a:t>
            </a:r>
            <a:r>
              <a:rPr kumimoji="1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1157" name="圆角矩形 1156">
            <a:extLst>
              <a:ext uri="{FF2B5EF4-FFF2-40B4-BE49-F238E27FC236}">
                <a16:creationId xmlns:a16="http://schemas.microsoft.com/office/drawing/2014/main" id="{0A845135-5936-FD8C-199D-E492056F7AB5}"/>
              </a:ext>
            </a:extLst>
          </p:cNvPr>
          <p:cNvSpPr/>
          <p:nvPr/>
        </p:nvSpPr>
        <p:spPr>
          <a:xfrm>
            <a:off x="2294203" y="3001260"/>
            <a:ext cx="1175639" cy="344174"/>
          </a:xfrm>
          <a:prstGeom prst="roundRect">
            <a:avLst/>
          </a:prstGeom>
          <a:solidFill>
            <a:srgbClr val="FF9800">
              <a:alpha val="5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CB794F6-6872-6409-992E-DB1CFF0F94D4}"/>
              </a:ext>
            </a:extLst>
          </p:cNvPr>
          <p:cNvSpPr txBox="1"/>
          <p:nvPr/>
        </p:nvSpPr>
        <p:spPr>
          <a:xfrm>
            <a:off x="2189106" y="2961889"/>
            <a:ext cx="1383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success but inefficient due to …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37" name="圆角矩形 1236">
            <a:extLst>
              <a:ext uri="{FF2B5EF4-FFF2-40B4-BE49-F238E27FC236}">
                <a16:creationId xmlns:a16="http://schemas.microsoft.com/office/drawing/2014/main" id="{614514D6-E62C-C197-2E28-CF43660DA493}"/>
              </a:ext>
            </a:extLst>
          </p:cNvPr>
          <p:cNvSpPr/>
          <p:nvPr/>
        </p:nvSpPr>
        <p:spPr>
          <a:xfrm>
            <a:off x="301152" y="3023809"/>
            <a:ext cx="365012" cy="703265"/>
          </a:xfrm>
          <a:prstGeom prst="roundRect">
            <a:avLst>
              <a:gd name="adj" fmla="val 10166"/>
            </a:avLst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6" name="圆角矩形 1235">
            <a:extLst>
              <a:ext uri="{FF2B5EF4-FFF2-40B4-BE49-F238E27FC236}">
                <a16:creationId xmlns:a16="http://schemas.microsoft.com/office/drawing/2014/main" id="{6A7B9F2D-4C35-40F0-4D94-CA89E8512565}"/>
              </a:ext>
            </a:extLst>
          </p:cNvPr>
          <p:cNvSpPr/>
          <p:nvPr/>
        </p:nvSpPr>
        <p:spPr>
          <a:xfrm>
            <a:off x="299377" y="2297995"/>
            <a:ext cx="1036502" cy="703265"/>
          </a:xfrm>
          <a:prstGeom prst="roundRect">
            <a:avLst>
              <a:gd name="adj" fmla="val 10166"/>
            </a:avLst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3" name="任意形状 1042">
            <a:extLst>
              <a:ext uri="{FF2B5EF4-FFF2-40B4-BE49-F238E27FC236}">
                <a16:creationId xmlns:a16="http://schemas.microsoft.com/office/drawing/2014/main" id="{39987E2C-FED4-3DC5-F759-809AC08124CF}"/>
              </a:ext>
            </a:extLst>
          </p:cNvPr>
          <p:cNvSpPr/>
          <p:nvPr/>
        </p:nvSpPr>
        <p:spPr>
          <a:xfrm>
            <a:off x="299377" y="544362"/>
            <a:ext cx="1030198" cy="1073181"/>
          </a:xfrm>
          <a:custGeom>
            <a:avLst/>
            <a:gdLst>
              <a:gd name="connsiteX0" fmla="*/ 35762 w 1072566"/>
              <a:gd name="connsiteY0" fmla="*/ 0 h 1073181"/>
              <a:gd name="connsiteX1" fmla="*/ 1036804 w 1072566"/>
              <a:gd name="connsiteY1" fmla="*/ 0 h 1073181"/>
              <a:gd name="connsiteX2" fmla="*/ 1072566 w 1072566"/>
              <a:gd name="connsiteY2" fmla="*/ 35762 h 1073181"/>
              <a:gd name="connsiteX3" fmla="*/ 1072566 w 1072566"/>
              <a:gd name="connsiteY3" fmla="*/ 333570 h 1073181"/>
              <a:gd name="connsiteX4" fmla="*/ 1036804 w 1072566"/>
              <a:gd name="connsiteY4" fmla="*/ 369332 h 1073181"/>
              <a:gd name="connsiteX5" fmla="*/ 374619 w 1072566"/>
              <a:gd name="connsiteY5" fmla="*/ 369332 h 1073181"/>
              <a:gd name="connsiteX6" fmla="*/ 374619 w 1072566"/>
              <a:gd name="connsiteY6" fmla="*/ 1036907 h 1073181"/>
              <a:gd name="connsiteX7" fmla="*/ 338345 w 1072566"/>
              <a:gd name="connsiteY7" fmla="*/ 1073181 h 1073181"/>
              <a:gd name="connsiteX8" fmla="*/ 36274 w 1072566"/>
              <a:gd name="connsiteY8" fmla="*/ 1073181 h 1073181"/>
              <a:gd name="connsiteX9" fmla="*/ 0 w 1072566"/>
              <a:gd name="connsiteY9" fmla="*/ 1036907 h 1073181"/>
              <a:gd name="connsiteX10" fmla="*/ 0 w 1072566"/>
              <a:gd name="connsiteY10" fmla="*/ 333570 h 1073181"/>
              <a:gd name="connsiteX11" fmla="*/ 0 w 1072566"/>
              <a:gd name="connsiteY11" fmla="*/ 38558 h 1073181"/>
              <a:gd name="connsiteX12" fmla="*/ 0 w 1072566"/>
              <a:gd name="connsiteY12" fmla="*/ 35762 h 1073181"/>
              <a:gd name="connsiteX13" fmla="*/ 35762 w 1072566"/>
              <a:gd name="connsiteY13" fmla="*/ 0 h 1073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72566" h="1073181">
                <a:moveTo>
                  <a:pt x="35762" y="0"/>
                </a:moveTo>
                <a:lnTo>
                  <a:pt x="1036804" y="0"/>
                </a:lnTo>
                <a:cubicBezTo>
                  <a:pt x="1056555" y="0"/>
                  <a:pt x="1072566" y="16011"/>
                  <a:pt x="1072566" y="35762"/>
                </a:cubicBezTo>
                <a:lnTo>
                  <a:pt x="1072566" y="333570"/>
                </a:lnTo>
                <a:cubicBezTo>
                  <a:pt x="1072566" y="353321"/>
                  <a:pt x="1056555" y="369332"/>
                  <a:pt x="1036804" y="369332"/>
                </a:cubicBezTo>
                <a:lnTo>
                  <a:pt x="374619" y="369332"/>
                </a:lnTo>
                <a:lnTo>
                  <a:pt x="374619" y="1036907"/>
                </a:lnTo>
                <a:cubicBezTo>
                  <a:pt x="374619" y="1056941"/>
                  <a:pt x="358379" y="1073181"/>
                  <a:pt x="338345" y="1073181"/>
                </a:cubicBezTo>
                <a:lnTo>
                  <a:pt x="36274" y="1073181"/>
                </a:lnTo>
                <a:cubicBezTo>
                  <a:pt x="16240" y="1073181"/>
                  <a:pt x="0" y="1056941"/>
                  <a:pt x="0" y="1036907"/>
                </a:cubicBezTo>
                <a:lnTo>
                  <a:pt x="0" y="333570"/>
                </a:lnTo>
                <a:lnTo>
                  <a:pt x="0" y="38558"/>
                </a:lnTo>
                <a:lnTo>
                  <a:pt x="0" y="35762"/>
                </a:lnTo>
                <a:cubicBezTo>
                  <a:pt x="0" y="16011"/>
                  <a:pt x="16011" y="0"/>
                  <a:pt x="35762" y="0"/>
                </a:cubicBezTo>
                <a:close/>
              </a:path>
            </a:pathLst>
          </a:custGeom>
          <a:pattFill prst="wdDnDiag">
            <a:fgClr>
              <a:srgbClr val="F44336"/>
            </a:fgClr>
            <a:bgClr>
              <a:schemeClr val="bg1"/>
            </a:bgClr>
          </a:pattFill>
          <a:ln w="158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3087867C-6B60-6B13-E86E-BC1B0DE86A21}"/>
              </a:ext>
            </a:extLst>
          </p:cNvPr>
          <p:cNvSpPr/>
          <p:nvPr/>
        </p:nvSpPr>
        <p:spPr>
          <a:xfrm>
            <a:off x="356759" y="597435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6623659-1FE7-0CA2-E12E-16F2F3ED6050}"/>
              </a:ext>
            </a:extLst>
          </p:cNvPr>
          <p:cNvSpPr/>
          <p:nvPr/>
        </p:nvSpPr>
        <p:spPr>
          <a:xfrm>
            <a:off x="685850" y="597435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E4D3AAF-73AF-04E3-8C6F-34576593CF4D}"/>
              </a:ext>
            </a:extLst>
          </p:cNvPr>
          <p:cNvSpPr/>
          <p:nvPr/>
        </p:nvSpPr>
        <p:spPr>
          <a:xfrm>
            <a:off x="1014941" y="597435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EF430873-D628-FF3B-CE3E-68E74F51B7CE}"/>
              </a:ext>
            </a:extLst>
          </p:cNvPr>
          <p:cNvSpPr/>
          <p:nvPr/>
        </p:nvSpPr>
        <p:spPr>
          <a:xfrm>
            <a:off x="1376870" y="597435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50119E6-E3C6-2F33-1162-4B7A0FE34088}"/>
              </a:ext>
            </a:extLst>
          </p:cNvPr>
          <p:cNvSpPr/>
          <p:nvPr/>
        </p:nvSpPr>
        <p:spPr>
          <a:xfrm>
            <a:off x="1696664" y="597435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73E34236-0507-F679-D419-EB1BC7FC7D27}"/>
              </a:ext>
            </a:extLst>
          </p:cNvPr>
          <p:cNvSpPr/>
          <p:nvPr/>
        </p:nvSpPr>
        <p:spPr>
          <a:xfrm>
            <a:off x="2014265" y="597435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4833006-3B8C-3DEF-850D-806DA8E6A64B}"/>
                  </a:ext>
                </a:extLst>
              </p:cNvPr>
              <p:cNvSpPr txBox="1"/>
              <p:nvPr/>
            </p:nvSpPr>
            <p:spPr>
              <a:xfrm>
                <a:off x="-88620" y="544360"/>
                <a:ext cx="445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4833006-3B8C-3DEF-850D-806DA8E6A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620" y="544360"/>
                <a:ext cx="44537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圆角矩形 25">
            <a:extLst>
              <a:ext uri="{FF2B5EF4-FFF2-40B4-BE49-F238E27FC236}">
                <a16:creationId xmlns:a16="http://schemas.microsoft.com/office/drawing/2014/main" id="{23CACF53-25B4-BEF7-33DE-8C02192E9552}"/>
              </a:ext>
            </a:extLst>
          </p:cNvPr>
          <p:cNvSpPr/>
          <p:nvPr/>
        </p:nvSpPr>
        <p:spPr>
          <a:xfrm>
            <a:off x="356759" y="167987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4A08498C-834D-1FE5-B846-CD5F6D96C13E}"/>
              </a:ext>
            </a:extLst>
          </p:cNvPr>
          <p:cNvSpPr/>
          <p:nvPr/>
        </p:nvSpPr>
        <p:spPr>
          <a:xfrm>
            <a:off x="684056" y="945749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E97B0D83-54B0-BAC5-819A-FC9B0221FF4A}"/>
              </a:ext>
            </a:extLst>
          </p:cNvPr>
          <p:cNvSpPr/>
          <p:nvPr/>
        </p:nvSpPr>
        <p:spPr>
          <a:xfrm>
            <a:off x="1013141" y="945749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02B44D92-6BC6-05D5-B1C5-26095FF48269}"/>
                  </a:ext>
                </a:extLst>
              </p:cNvPr>
              <p:cNvSpPr txBox="1"/>
              <p:nvPr/>
            </p:nvSpPr>
            <p:spPr>
              <a:xfrm>
                <a:off x="-88619" y="1606270"/>
                <a:ext cx="4507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02B44D92-6BC6-05D5-B1C5-26095FF48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619" y="1606270"/>
                <a:ext cx="45070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圆角矩形 46">
            <a:extLst>
              <a:ext uri="{FF2B5EF4-FFF2-40B4-BE49-F238E27FC236}">
                <a16:creationId xmlns:a16="http://schemas.microsoft.com/office/drawing/2014/main" id="{81A7B687-B727-1336-F244-7BDF20B69036}"/>
              </a:ext>
            </a:extLst>
          </p:cNvPr>
          <p:cNvSpPr/>
          <p:nvPr/>
        </p:nvSpPr>
        <p:spPr>
          <a:xfrm>
            <a:off x="354963" y="945749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17CADE85-F089-2B46-1057-3FB72CE445BD}"/>
              </a:ext>
            </a:extLst>
          </p:cNvPr>
          <p:cNvSpPr/>
          <p:nvPr/>
        </p:nvSpPr>
        <p:spPr>
          <a:xfrm>
            <a:off x="685937" y="167987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2ECE0C1D-7BFF-677F-7B1E-38C0307D5C87}"/>
              </a:ext>
            </a:extLst>
          </p:cNvPr>
          <p:cNvSpPr/>
          <p:nvPr/>
        </p:nvSpPr>
        <p:spPr>
          <a:xfrm>
            <a:off x="1020262" y="167987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A22D243C-4A69-254C-8DE4-DB6033019A8C}"/>
              </a:ext>
            </a:extLst>
          </p:cNvPr>
          <p:cNvSpPr/>
          <p:nvPr/>
        </p:nvSpPr>
        <p:spPr>
          <a:xfrm>
            <a:off x="1376870" y="167987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6B02E7A7-E603-D406-63BD-AA0A01B68A17}"/>
              </a:ext>
            </a:extLst>
          </p:cNvPr>
          <p:cNvSpPr/>
          <p:nvPr/>
        </p:nvSpPr>
        <p:spPr>
          <a:xfrm>
            <a:off x="354963" y="1313989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6" name="圆角矩形 1025">
            <a:extLst>
              <a:ext uri="{FF2B5EF4-FFF2-40B4-BE49-F238E27FC236}">
                <a16:creationId xmlns:a16="http://schemas.microsoft.com/office/drawing/2014/main" id="{C7A4C24A-B26C-2AE0-1E43-DCD46BBDDC3C}"/>
              </a:ext>
            </a:extLst>
          </p:cNvPr>
          <p:cNvSpPr/>
          <p:nvPr/>
        </p:nvSpPr>
        <p:spPr>
          <a:xfrm>
            <a:off x="684056" y="1316029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7" name="圆角矩形 1026">
            <a:extLst>
              <a:ext uri="{FF2B5EF4-FFF2-40B4-BE49-F238E27FC236}">
                <a16:creationId xmlns:a16="http://schemas.microsoft.com/office/drawing/2014/main" id="{BB154A5A-D087-A325-0DDE-0CD4DB07D0EE}"/>
              </a:ext>
            </a:extLst>
          </p:cNvPr>
          <p:cNvSpPr/>
          <p:nvPr/>
        </p:nvSpPr>
        <p:spPr>
          <a:xfrm>
            <a:off x="1013145" y="1316029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0" name="文本框 1029">
                <a:extLst>
                  <a:ext uri="{FF2B5EF4-FFF2-40B4-BE49-F238E27FC236}">
                    <a16:creationId xmlns:a16="http://schemas.microsoft.com/office/drawing/2014/main" id="{250DB9D2-955C-888E-1A63-267EDEA7AD08}"/>
                  </a:ext>
                </a:extLst>
              </p:cNvPr>
              <p:cNvSpPr txBox="1"/>
              <p:nvPr/>
            </p:nvSpPr>
            <p:spPr>
              <a:xfrm>
                <a:off x="-88619" y="878293"/>
                <a:ext cx="4507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30" name="文本框 1029">
                <a:extLst>
                  <a:ext uri="{FF2B5EF4-FFF2-40B4-BE49-F238E27FC236}">
                    <a16:creationId xmlns:a16="http://schemas.microsoft.com/office/drawing/2014/main" id="{250DB9D2-955C-888E-1A63-267EDEA7A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619" y="878293"/>
                <a:ext cx="4507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1" name="文本框 1030">
                <a:extLst>
                  <a:ext uri="{FF2B5EF4-FFF2-40B4-BE49-F238E27FC236}">
                    <a16:creationId xmlns:a16="http://schemas.microsoft.com/office/drawing/2014/main" id="{7AE0F411-EFD7-7E29-EE72-21EFE10226DD}"/>
                  </a:ext>
                </a:extLst>
              </p:cNvPr>
              <p:cNvSpPr txBox="1"/>
              <p:nvPr/>
            </p:nvSpPr>
            <p:spPr>
              <a:xfrm>
                <a:off x="-88618" y="1232366"/>
                <a:ext cx="4507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31" name="文本框 1030">
                <a:extLst>
                  <a:ext uri="{FF2B5EF4-FFF2-40B4-BE49-F238E27FC236}">
                    <a16:creationId xmlns:a16="http://schemas.microsoft.com/office/drawing/2014/main" id="{7AE0F411-EFD7-7E29-EE72-21EFE1022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8618" y="1232366"/>
                <a:ext cx="4507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5" name="圆角矩形 1054">
            <a:extLst>
              <a:ext uri="{FF2B5EF4-FFF2-40B4-BE49-F238E27FC236}">
                <a16:creationId xmlns:a16="http://schemas.microsoft.com/office/drawing/2014/main" id="{E0DD0DEA-FE15-B859-E352-902C34C99D23}"/>
              </a:ext>
            </a:extLst>
          </p:cNvPr>
          <p:cNvSpPr/>
          <p:nvPr/>
        </p:nvSpPr>
        <p:spPr>
          <a:xfrm>
            <a:off x="2351635" y="615109"/>
            <a:ext cx="629587" cy="237159"/>
          </a:xfrm>
          <a:prstGeom prst="roundRect">
            <a:avLst/>
          </a:prstGeom>
          <a:solidFill>
            <a:srgbClr val="424242">
              <a:alpha val="3603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failure</a:t>
            </a:r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59" name="圆角矩形 1058">
            <a:extLst>
              <a:ext uri="{FF2B5EF4-FFF2-40B4-BE49-F238E27FC236}">
                <a16:creationId xmlns:a16="http://schemas.microsoft.com/office/drawing/2014/main" id="{3DE23AEE-212E-F014-55C4-E6679DA00D61}"/>
              </a:ext>
            </a:extLst>
          </p:cNvPr>
          <p:cNvSpPr/>
          <p:nvPr/>
        </p:nvSpPr>
        <p:spPr>
          <a:xfrm>
            <a:off x="2221050" y="1652462"/>
            <a:ext cx="922548" cy="344174"/>
          </a:xfrm>
          <a:prstGeom prst="roundRect">
            <a:avLst/>
          </a:prstGeom>
          <a:solidFill>
            <a:srgbClr val="FF9800">
              <a:alpha val="5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success but inefficient</a:t>
            </a:r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60" name="圆角矩形 1059">
            <a:extLst>
              <a:ext uri="{FF2B5EF4-FFF2-40B4-BE49-F238E27FC236}">
                <a16:creationId xmlns:a16="http://schemas.microsoft.com/office/drawing/2014/main" id="{94B27274-5B4E-3F43-0536-3D750047C6AB}"/>
              </a:ext>
            </a:extLst>
          </p:cNvPr>
          <p:cNvSpPr/>
          <p:nvPr/>
        </p:nvSpPr>
        <p:spPr>
          <a:xfrm>
            <a:off x="2351634" y="963423"/>
            <a:ext cx="629587" cy="237159"/>
          </a:xfrm>
          <a:prstGeom prst="roundRect">
            <a:avLst/>
          </a:prstGeom>
          <a:solidFill>
            <a:srgbClr val="424242">
              <a:alpha val="3603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failure</a:t>
            </a:r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64" name="圆角矩形 1063">
            <a:extLst>
              <a:ext uri="{FF2B5EF4-FFF2-40B4-BE49-F238E27FC236}">
                <a16:creationId xmlns:a16="http://schemas.microsoft.com/office/drawing/2014/main" id="{A63E8113-FFA7-0172-1BCD-02D08EBF47D3}"/>
              </a:ext>
            </a:extLst>
          </p:cNvPr>
          <p:cNvSpPr>
            <a:spLocks/>
          </p:cNvSpPr>
          <p:nvPr/>
        </p:nvSpPr>
        <p:spPr>
          <a:xfrm>
            <a:off x="2351633" y="1333145"/>
            <a:ext cx="629587" cy="237159"/>
          </a:xfrm>
          <a:prstGeom prst="roundRect">
            <a:avLst/>
          </a:prstGeom>
          <a:solidFill>
            <a:srgbClr val="424242">
              <a:alpha val="3603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failure</a:t>
            </a:r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69" name="圆角矩形 1068">
            <a:extLst>
              <a:ext uri="{FF2B5EF4-FFF2-40B4-BE49-F238E27FC236}">
                <a16:creationId xmlns:a16="http://schemas.microsoft.com/office/drawing/2014/main" id="{6EDD04E2-5A81-7D8B-8CAA-A897E42D6B21}"/>
              </a:ext>
            </a:extLst>
          </p:cNvPr>
          <p:cNvSpPr/>
          <p:nvPr/>
        </p:nvSpPr>
        <p:spPr>
          <a:xfrm>
            <a:off x="357398" y="2351069"/>
            <a:ext cx="272645" cy="2631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0" name="圆角矩形 1069">
            <a:extLst>
              <a:ext uri="{FF2B5EF4-FFF2-40B4-BE49-F238E27FC236}">
                <a16:creationId xmlns:a16="http://schemas.microsoft.com/office/drawing/2014/main" id="{713961A6-F3F8-F4A4-9357-4185998C4A25}"/>
              </a:ext>
            </a:extLst>
          </p:cNvPr>
          <p:cNvSpPr/>
          <p:nvPr/>
        </p:nvSpPr>
        <p:spPr>
          <a:xfrm>
            <a:off x="686489" y="2351069"/>
            <a:ext cx="272645" cy="2631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1" name="圆角矩形 1070">
            <a:extLst>
              <a:ext uri="{FF2B5EF4-FFF2-40B4-BE49-F238E27FC236}">
                <a16:creationId xmlns:a16="http://schemas.microsoft.com/office/drawing/2014/main" id="{1F7D1D54-9D19-7840-0715-D11591B22BA9}"/>
              </a:ext>
            </a:extLst>
          </p:cNvPr>
          <p:cNvSpPr/>
          <p:nvPr/>
        </p:nvSpPr>
        <p:spPr>
          <a:xfrm>
            <a:off x="1015580" y="2351069"/>
            <a:ext cx="272645" cy="2631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3" name="圆角矩形 1072">
            <a:extLst>
              <a:ext uri="{FF2B5EF4-FFF2-40B4-BE49-F238E27FC236}">
                <a16:creationId xmlns:a16="http://schemas.microsoft.com/office/drawing/2014/main" id="{515DCD6D-AAD5-9608-C796-5CBD54345468}"/>
              </a:ext>
            </a:extLst>
          </p:cNvPr>
          <p:cNvSpPr/>
          <p:nvPr/>
        </p:nvSpPr>
        <p:spPr>
          <a:xfrm>
            <a:off x="1377509" y="2351069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4" name="圆角矩形 1073">
            <a:extLst>
              <a:ext uri="{FF2B5EF4-FFF2-40B4-BE49-F238E27FC236}">
                <a16:creationId xmlns:a16="http://schemas.microsoft.com/office/drawing/2014/main" id="{81D52946-E00A-746D-2AC1-B915F8E47E68}"/>
              </a:ext>
            </a:extLst>
          </p:cNvPr>
          <p:cNvSpPr/>
          <p:nvPr/>
        </p:nvSpPr>
        <p:spPr>
          <a:xfrm>
            <a:off x="1696664" y="2351069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3" name="圆角矩形 1082">
            <a:extLst>
              <a:ext uri="{FF2B5EF4-FFF2-40B4-BE49-F238E27FC236}">
                <a16:creationId xmlns:a16="http://schemas.microsoft.com/office/drawing/2014/main" id="{C83071A3-3A0D-F0DA-8105-F02D90B03269}"/>
              </a:ext>
            </a:extLst>
          </p:cNvPr>
          <p:cNvSpPr/>
          <p:nvPr/>
        </p:nvSpPr>
        <p:spPr>
          <a:xfrm>
            <a:off x="2014904" y="2351069"/>
            <a:ext cx="272645" cy="263185"/>
          </a:xfrm>
          <a:prstGeom prst="roundRect">
            <a:avLst/>
          </a:prstGeom>
          <a:solidFill>
            <a:srgbClr val="F443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4" name="文本框 1083">
                <a:extLst>
                  <a:ext uri="{FF2B5EF4-FFF2-40B4-BE49-F238E27FC236}">
                    <a16:creationId xmlns:a16="http://schemas.microsoft.com/office/drawing/2014/main" id="{4A14D371-F4B1-1A15-4D72-6527524D0EDA}"/>
                  </a:ext>
                </a:extLst>
              </p:cNvPr>
              <p:cNvSpPr txBox="1"/>
              <p:nvPr/>
            </p:nvSpPr>
            <p:spPr>
              <a:xfrm>
                <a:off x="-58069" y="2297994"/>
                <a:ext cx="445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84" name="文本框 1083">
                <a:extLst>
                  <a:ext uri="{FF2B5EF4-FFF2-40B4-BE49-F238E27FC236}">
                    <a16:creationId xmlns:a16="http://schemas.microsoft.com/office/drawing/2014/main" id="{4A14D371-F4B1-1A15-4D72-6527524D0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069" y="2297994"/>
                <a:ext cx="44537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5" name="圆角矩形 1084">
            <a:extLst>
              <a:ext uri="{FF2B5EF4-FFF2-40B4-BE49-F238E27FC236}">
                <a16:creationId xmlns:a16="http://schemas.microsoft.com/office/drawing/2014/main" id="{BAF48855-8329-9F2D-F027-1BC69146D722}"/>
              </a:ext>
            </a:extLst>
          </p:cNvPr>
          <p:cNvSpPr/>
          <p:nvPr/>
        </p:nvSpPr>
        <p:spPr>
          <a:xfrm>
            <a:off x="357398" y="3427969"/>
            <a:ext cx="272645" cy="2631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8" name="圆角矩形 1087">
            <a:extLst>
              <a:ext uri="{FF2B5EF4-FFF2-40B4-BE49-F238E27FC236}">
                <a16:creationId xmlns:a16="http://schemas.microsoft.com/office/drawing/2014/main" id="{1FC6547F-07D8-02B7-CC73-AA64E659226B}"/>
              </a:ext>
            </a:extLst>
          </p:cNvPr>
          <p:cNvSpPr/>
          <p:nvPr/>
        </p:nvSpPr>
        <p:spPr>
          <a:xfrm>
            <a:off x="684695" y="2701155"/>
            <a:ext cx="272645" cy="2631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9" name="圆角矩形 1088">
            <a:extLst>
              <a:ext uri="{FF2B5EF4-FFF2-40B4-BE49-F238E27FC236}">
                <a16:creationId xmlns:a16="http://schemas.microsoft.com/office/drawing/2014/main" id="{8B07112B-1339-D8F4-C25F-7ACADA139849}"/>
              </a:ext>
            </a:extLst>
          </p:cNvPr>
          <p:cNvSpPr/>
          <p:nvPr/>
        </p:nvSpPr>
        <p:spPr>
          <a:xfrm>
            <a:off x="1013780" y="2701155"/>
            <a:ext cx="272645" cy="2631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0" name="文本框 1089">
                <a:extLst>
                  <a:ext uri="{FF2B5EF4-FFF2-40B4-BE49-F238E27FC236}">
                    <a16:creationId xmlns:a16="http://schemas.microsoft.com/office/drawing/2014/main" id="{8E55B202-5D97-587D-2C77-B9E4A7E0F78A}"/>
                  </a:ext>
                </a:extLst>
              </p:cNvPr>
              <p:cNvSpPr txBox="1"/>
              <p:nvPr/>
            </p:nvSpPr>
            <p:spPr>
              <a:xfrm>
                <a:off x="-87981" y="3359904"/>
                <a:ext cx="505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90" name="文本框 1089">
                <a:extLst>
                  <a:ext uri="{FF2B5EF4-FFF2-40B4-BE49-F238E27FC236}">
                    <a16:creationId xmlns:a16="http://schemas.microsoft.com/office/drawing/2014/main" id="{8E55B202-5D97-587D-2C77-B9E4A7E0F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7981" y="3359904"/>
                <a:ext cx="5052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1" name="圆角矩形 1090">
            <a:extLst>
              <a:ext uri="{FF2B5EF4-FFF2-40B4-BE49-F238E27FC236}">
                <a16:creationId xmlns:a16="http://schemas.microsoft.com/office/drawing/2014/main" id="{68733243-EC8F-5361-F5BD-B4636C0A970C}"/>
              </a:ext>
            </a:extLst>
          </p:cNvPr>
          <p:cNvSpPr/>
          <p:nvPr/>
        </p:nvSpPr>
        <p:spPr>
          <a:xfrm>
            <a:off x="355602" y="2701155"/>
            <a:ext cx="272645" cy="2631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2" name="圆角矩形 1091">
            <a:extLst>
              <a:ext uri="{FF2B5EF4-FFF2-40B4-BE49-F238E27FC236}">
                <a16:creationId xmlns:a16="http://schemas.microsoft.com/office/drawing/2014/main" id="{250CDA0F-FDD2-BFBE-8C0B-224302916374}"/>
              </a:ext>
            </a:extLst>
          </p:cNvPr>
          <p:cNvSpPr/>
          <p:nvPr/>
        </p:nvSpPr>
        <p:spPr>
          <a:xfrm>
            <a:off x="684695" y="305968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4" name="圆角矩形 1093">
            <a:extLst>
              <a:ext uri="{FF2B5EF4-FFF2-40B4-BE49-F238E27FC236}">
                <a16:creationId xmlns:a16="http://schemas.microsoft.com/office/drawing/2014/main" id="{18125A61-9417-25E0-7DA2-F202567AD7D3}"/>
              </a:ext>
            </a:extLst>
          </p:cNvPr>
          <p:cNvSpPr/>
          <p:nvPr/>
        </p:nvSpPr>
        <p:spPr>
          <a:xfrm>
            <a:off x="1019020" y="305968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5" name="圆角矩形 1094">
            <a:extLst>
              <a:ext uri="{FF2B5EF4-FFF2-40B4-BE49-F238E27FC236}">
                <a16:creationId xmlns:a16="http://schemas.microsoft.com/office/drawing/2014/main" id="{96A2D072-90F7-2F13-6FF9-3E1B7139E608}"/>
              </a:ext>
            </a:extLst>
          </p:cNvPr>
          <p:cNvSpPr/>
          <p:nvPr/>
        </p:nvSpPr>
        <p:spPr>
          <a:xfrm>
            <a:off x="1375628" y="305968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2" name="圆角矩形 1101">
            <a:extLst>
              <a:ext uri="{FF2B5EF4-FFF2-40B4-BE49-F238E27FC236}">
                <a16:creationId xmlns:a16="http://schemas.microsoft.com/office/drawing/2014/main" id="{71EDED83-8CA7-FE6A-7507-80BF27E24974}"/>
              </a:ext>
            </a:extLst>
          </p:cNvPr>
          <p:cNvSpPr/>
          <p:nvPr/>
        </p:nvSpPr>
        <p:spPr>
          <a:xfrm>
            <a:off x="355602" y="3059688"/>
            <a:ext cx="272645" cy="2631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1" name="文本框 1110">
                <a:extLst>
                  <a:ext uri="{FF2B5EF4-FFF2-40B4-BE49-F238E27FC236}">
                    <a16:creationId xmlns:a16="http://schemas.microsoft.com/office/drawing/2014/main" id="{0BEBD99A-54F6-FE8C-89C4-CCC9F89A093F}"/>
                  </a:ext>
                </a:extLst>
              </p:cNvPr>
              <p:cNvSpPr txBox="1"/>
              <p:nvPr/>
            </p:nvSpPr>
            <p:spPr>
              <a:xfrm>
                <a:off x="-85320" y="2631927"/>
                <a:ext cx="499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11" name="文本框 1110">
                <a:extLst>
                  <a:ext uri="{FF2B5EF4-FFF2-40B4-BE49-F238E27FC236}">
                    <a16:creationId xmlns:a16="http://schemas.microsoft.com/office/drawing/2014/main" id="{0BEBD99A-54F6-FE8C-89C4-CCC9F89A0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320" y="2631927"/>
                <a:ext cx="49988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文本框 1114">
                <a:extLst>
                  <a:ext uri="{FF2B5EF4-FFF2-40B4-BE49-F238E27FC236}">
                    <a16:creationId xmlns:a16="http://schemas.microsoft.com/office/drawing/2014/main" id="{120230CB-D0FF-D6CA-D9ED-3586401B2A94}"/>
                  </a:ext>
                </a:extLst>
              </p:cNvPr>
              <p:cNvSpPr txBox="1"/>
              <p:nvPr/>
            </p:nvSpPr>
            <p:spPr>
              <a:xfrm>
                <a:off x="-60729" y="2986000"/>
                <a:ext cx="4507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15" name="文本框 1114">
                <a:extLst>
                  <a:ext uri="{FF2B5EF4-FFF2-40B4-BE49-F238E27FC236}">
                    <a16:creationId xmlns:a16="http://schemas.microsoft.com/office/drawing/2014/main" id="{120230CB-D0FF-D6CA-D9ED-3586401B2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729" y="2986000"/>
                <a:ext cx="45070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9" name="曲线连接符 1118">
            <a:extLst>
              <a:ext uri="{FF2B5EF4-FFF2-40B4-BE49-F238E27FC236}">
                <a16:creationId xmlns:a16="http://schemas.microsoft.com/office/drawing/2014/main" id="{7C9DBCF6-33E5-A28D-DDCC-E5D477126AAF}"/>
              </a:ext>
            </a:extLst>
          </p:cNvPr>
          <p:cNvCxnSpPr>
            <a:cxnSpLocks/>
            <a:stCxn id="1156" idx="3"/>
            <a:endCxn id="1158" idx="3"/>
          </p:cNvCxnSpPr>
          <p:nvPr/>
        </p:nvCxnSpPr>
        <p:spPr>
          <a:xfrm flipH="1">
            <a:off x="3209895" y="2484413"/>
            <a:ext cx="313970" cy="312752"/>
          </a:xfrm>
          <a:prstGeom prst="curvedConnector3">
            <a:avLst>
              <a:gd name="adj1" fmla="val -7281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5" name="圆角矩形 1144">
            <a:extLst>
              <a:ext uri="{FF2B5EF4-FFF2-40B4-BE49-F238E27FC236}">
                <a16:creationId xmlns:a16="http://schemas.microsoft.com/office/drawing/2014/main" id="{2ED3E7A6-6206-D4C2-0752-744437EF1A13}"/>
              </a:ext>
            </a:extLst>
          </p:cNvPr>
          <p:cNvSpPr/>
          <p:nvPr/>
        </p:nvSpPr>
        <p:spPr>
          <a:xfrm>
            <a:off x="686488" y="342499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8" name="圆角矩形 1157">
            <a:extLst>
              <a:ext uri="{FF2B5EF4-FFF2-40B4-BE49-F238E27FC236}">
                <a16:creationId xmlns:a16="http://schemas.microsoft.com/office/drawing/2014/main" id="{432E9E2C-DB32-497E-1878-D2D0D8403ED3}"/>
              </a:ext>
            </a:extLst>
          </p:cNvPr>
          <p:cNvSpPr/>
          <p:nvPr/>
        </p:nvSpPr>
        <p:spPr>
          <a:xfrm>
            <a:off x="2580308" y="2678585"/>
            <a:ext cx="629587" cy="237159"/>
          </a:xfrm>
          <a:prstGeom prst="roundRect">
            <a:avLst/>
          </a:prstGeom>
          <a:solidFill>
            <a:schemeClr val="accent6">
              <a:lumMod val="75000"/>
              <a:alpha val="3603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success</a:t>
            </a:r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159" name="圆角矩形 1158">
            <a:extLst>
              <a:ext uri="{FF2B5EF4-FFF2-40B4-BE49-F238E27FC236}">
                <a16:creationId xmlns:a16="http://schemas.microsoft.com/office/drawing/2014/main" id="{E24755D2-34B2-BAF9-7076-184CD63C09D7}"/>
              </a:ext>
            </a:extLst>
          </p:cNvPr>
          <p:cNvSpPr>
            <a:spLocks/>
          </p:cNvSpPr>
          <p:nvPr/>
        </p:nvSpPr>
        <p:spPr>
          <a:xfrm>
            <a:off x="2433827" y="3402365"/>
            <a:ext cx="922548" cy="319717"/>
          </a:xfrm>
          <a:prstGeom prst="roundRect">
            <a:avLst/>
          </a:prstGeom>
          <a:solidFill>
            <a:schemeClr val="accent6">
              <a:lumMod val="75000"/>
              <a:alpha val="3603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success and efficient</a:t>
            </a:r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160" name="圆角矩形 1159">
            <a:extLst>
              <a:ext uri="{FF2B5EF4-FFF2-40B4-BE49-F238E27FC236}">
                <a16:creationId xmlns:a16="http://schemas.microsoft.com/office/drawing/2014/main" id="{216CEB0F-19A3-FC08-5256-5CFDE298BBCC}"/>
              </a:ext>
            </a:extLst>
          </p:cNvPr>
          <p:cNvSpPr/>
          <p:nvPr/>
        </p:nvSpPr>
        <p:spPr>
          <a:xfrm>
            <a:off x="1375627" y="2701155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2" name="圆角矩形 1161">
            <a:extLst>
              <a:ext uri="{FF2B5EF4-FFF2-40B4-BE49-F238E27FC236}">
                <a16:creationId xmlns:a16="http://schemas.microsoft.com/office/drawing/2014/main" id="{57BC1F58-628E-83E7-EFBC-A598AA3065C2}"/>
              </a:ext>
            </a:extLst>
          </p:cNvPr>
          <p:cNvSpPr/>
          <p:nvPr/>
        </p:nvSpPr>
        <p:spPr>
          <a:xfrm>
            <a:off x="1020900" y="3427969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3" name="圆角矩形 1162">
            <a:extLst>
              <a:ext uri="{FF2B5EF4-FFF2-40B4-BE49-F238E27FC236}">
                <a16:creationId xmlns:a16="http://schemas.microsoft.com/office/drawing/2014/main" id="{D1E8776C-C704-FE58-C38C-7AFA6DFE4A05}"/>
              </a:ext>
            </a:extLst>
          </p:cNvPr>
          <p:cNvSpPr/>
          <p:nvPr/>
        </p:nvSpPr>
        <p:spPr>
          <a:xfrm>
            <a:off x="1696664" y="167987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7" name="圆角矩形 1166">
            <a:extLst>
              <a:ext uri="{FF2B5EF4-FFF2-40B4-BE49-F238E27FC236}">
                <a16:creationId xmlns:a16="http://schemas.microsoft.com/office/drawing/2014/main" id="{6D20D75A-1B94-79F2-17BB-C69CE7B747E2}"/>
              </a:ext>
            </a:extLst>
          </p:cNvPr>
          <p:cNvSpPr/>
          <p:nvPr/>
        </p:nvSpPr>
        <p:spPr>
          <a:xfrm>
            <a:off x="1696664" y="3059688"/>
            <a:ext cx="272645" cy="263185"/>
          </a:xfrm>
          <a:prstGeom prst="roundRect">
            <a:avLst/>
          </a:prstGeom>
          <a:solidFill>
            <a:srgbClr val="4CA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8" name="圆角矩形标注 1167">
            <a:extLst>
              <a:ext uri="{FF2B5EF4-FFF2-40B4-BE49-F238E27FC236}">
                <a16:creationId xmlns:a16="http://schemas.microsoft.com/office/drawing/2014/main" id="{6F9C523C-FEB3-1BC9-CB4A-D4BA4BCE9BC4}"/>
              </a:ext>
            </a:extLst>
          </p:cNvPr>
          <p:cNvSpPr/>
          <p:nvPr/>
        </p:nvSpPr>
        <p:spPr>
          <a:xfrm>
            <a:off x="1864947" y="46022"/>
            <a:ext cx="2737649" cy="505820"/>
          </a:xfrm>
          <a:prstGeom prst="wedgeRoundRectCallout">
            <a:avLst>
              <a:gd name="adj1" fmla="val 6210"/>
              <a:gd name="adj2" fmla="val 75281"/>
              <a:gd name="adj3" fmla="val 16667"/>
            </a:avLst>
          </a:prstGeom>
          <a:noFill/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C1:</a:t>
            </a:r>
            <a:r>
              <a:rPr kumimoji="1" lang="zh-CN" altLang="en-US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Inefficiency</a:t>
            </a:r>
            <a:r>
              <a:rPr kumimoji="1" lang="zh-CN" altLang="en-US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by Stochastic</a:t>
            </a:r>
            <a:r>
              <a:rPr kumimoji="1" lang="zh-CN" altLang="en-US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Sampling</a:t>
            </a:r>
            <a:r>
              <a:rPr kumimoji="1" lang="zh-CN" altLang="en-US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and Passive Scalar Reward Learning</a:t>
            </a:r>
            <a:endParaRPr kumimoji="1" lang="en" altLang="zh-CN" sz="1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169" name="圆角矩形标注 1168">
            <a:extLst>
              <a:ext uri="{FF2B5EF4-FFF2-40B4-BE49-F238E27FC236}">
                <a16:creationId xmlns:a16="http://schemas.microsoft.com/office/drawing/2014/main" id="{670395F8-962C-7616-E63E-A38B5D02E025}"/>
              </a:ext>
            </a:extLst>
          </p:cNvPr>
          <p:cNvSpPr/>
          <p:nvPr/>
        </p:nvSpPr>
        <p:spPr>
          <a:xfrm>
            <a:off x="1314771" y="1044209"/>
            <a:ext cx="969853" cy="532964"/>
          </a:xfrm>
          <a:prstGeom prst="wedgeRoundRectCallout">
            <a:avLst>
              <a:gd name="adj1" fmla="val -49768"/>
              <a:gd name="adj2" fmla="val -83799"/>
              <a:gd name="adj3" fmla="val 16667"/>
            </a:avLst>
          </a:prstGeom>
          <a:noFill/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endParaRPr kumimoji="1" lang="en" altLang="zh-CN" sz="1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0" name="文本框 1169">
                <a:extLst>
                  <a:ext uri="{FF2B5EF4-FFF2-40B4-BE49-F238E27FC236}">
                    <a16:creationId xmlns:a16="http://schemas.microsoft.com/office/drawing/2014/main" id="{05A5F8BD-6C70-B81C-86AF-0B8B2740F884}"/>
                  </a:ext>
                </a:extLst>
              </p:cNvPr>
              <p:cNvSpPr txBox="1"/>
              <p:nvPr/>
            </p:nvSpPr>
            <p:spPr>
              <a:xfrm>
                <a:off x="3724191" y="601898"/>
                <a:ext cx="7742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)↓↓</m:t>
                      </m:r>
                    </m:oMath>
                  </m:oMathPara>
                </a14:m>
                <a:endParaRPr kumimoji="1" lang="zh-CN" altLang="en-US" sz="1200" dirty="0">
                  <a:solidFill>
                    <a:srgbClr val="F44336"/>
                  </a:solidFill>
                </a:endParaRPr>
              </a:p>
            </p:txBody>
          </p:sp>
        </mc:Choice>
        <mc:Fallback xmlns="">
          <p:sp>
            <p:nvSpPr>
              <p:cNvPr id="1170" name="文本框 1169">
                <a:extLst>
                  <a:ext uri="{FF2B5EF4-FFF2-40B4-BE49-F238E27FC236}">
                    <a16:creationId xmlns:a16="http://schemas.microsoft.com/office/drawing/2014/main" id="{05A5F8BD-6C70-B81C-86AF-0B8B2740F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191" y="601898"/>
                <a:ext cx="774251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1" name="文本框 1170">
                <a:extLst>
                  <a:ext uri="{FF2B5EF4-FFF2-40B4-BE49-F238E27FC236}">
                    <a16:creationId xmlns:a16="http://schemas.microsoft.com/office/drawing/2014/main" id="{E2E76779-CD2E-129E-884A-8CBACF8BDCD8}"/>
                  </a:ext>
                </a:extLst>
              </p:cNvPr>
              <p:cNvSpPr txBox="1"/>
              <p:nvPr/>
            </p:nvSpPr>
            <p:spPr>
              <a:xfrm>
                <a:off x="3721498" y="947820"/>
                <a:ext cx="7057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)↓</m:t>
                      </m:r>
                    </m:oMath>
                  </m:oMathPara>
                </a14:m>
                <a:endParaRPr kumimoji="1" lang="zh-CN" altLang="en-US" sz="1200" dirty="0">
                  <a:solidFill>
                    <a:srgbClr val="F44336"/>
                  </a:solidFill>
                </a:endParaRPr>
              </a:p>
            </p:txBody>
          </p:sp>
        </mc:Choice>
        <mc:Fallback xmlns="">
          <p:sp>
            <p:nvSpPr>
              <p:cNvPr id="1171" name="文本框 1170">
                <a:extLst>
                  <a:ext uri="{FF2B5EF4-FFF2-40B4-BE49-F238E27FC236}">
                    <a16:creationId xmlns:a16="http://schemas.microsoft.com/office/drawing/2014/main" id="{E2E76779-CD2E-129E-884A-8CBACF8BD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498" y="947820"/>
                <a:ext cx="705706" cy="276999"/>
              </a:xfrm>
              <a:prstGeom prst="rect">
                <a:avLst/>
              </a:prstGeom>
              <a:blipFill>
                <a:blip r:embed="rId1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2" name="文本框 1171">
                <a:extLst>
                  <a:ext uri="{FF2B5EF4-FFF2-40B4-BE49-F238E27FC236}">
                    <a16:creationId xmlns:a16="http://schemas.microsoft.com/office/drawing/2014/main" id="{7DFD7EEE-F66D-F038-5374-8F83B362A143}"/>
                  </a:ext>
                </a:extLst>
              </p:cNvPr>
              <p:cNvSpPr txBox="1"/>
              <p:nvPr/>
            </p:nvSpPr>
            <p:spPr>
              <a:xfrm>
                <a:off x="3721497" y="1314387"/>
                <a:ext cx="7778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)↓↓</m:t>
                      </m:r>
                    </m:oMath>
                  </m:oMathPara>
                </a14:m>
                <a:endParaRPr kumimoji="1" lang="zh-CN" altLang="en-US" sz="1200" dirty="0">
                  <a:solidFill>
                    <a:srgbClr val="F44336"/>
                  </a:solidFill>
                </a:endParaRPr>
              </a:p>
            </p:txBody>
          </p:sp>
        </mc:Choice>
        <mc:Fallback xmlns="">
          <p:sp>
            <p:nvSpPr>
              <p:cNvPr id="1172" name="文本框 1171">
                <a:extLst>
                  <a:ext uri="{FF2B5EF4-FFF2-40B4-BE49-F238E27FC236}">
                    <a16:creationId xmlns:a16="http://schemas.microsoft.com/office/drawing/2014/main" id="{7DFD7EEE-F66D-F038-5374-8F83B362A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497" y="1314387"/>
                <a:ext cx="777842" cy="276999"/>
              </a:xfrm>
              <a:prstGeom prst="rect">
                <a:avLst/>
              </a:prstGeom>
              <a:blipFill>
                <a:blip r:embed="rId1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4" name="文本框 1173">
                <a:extLst>
                  <a:ext uri="{FF2B5EF4-FFF2-40B4-BE49-F238E27FC236}">
                    <a16:creationId xmlns:a16="http://schemas.microsoft.com/office/drawing/2014/main" id="{BB7BC78A-67FF-35DD-8236-447EF99446CB}"/>
                  </a:ext>
                </a:extLst>
              </p:cNvPr>
              <p:cNvSpPr txBox="1"/>
              <p:nvPr/>
            </p:nvSpPr>
            <p:spPr>
              <a:xfrm>
                <a:off x="3721497" y="1690172"/>
                <a:ext cx="8483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1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)↑↑↑</m:t>
                      </m:r>
                    </m:oMath>
                  </m:oMathPara>
                </a14:m>
                <a:endParaRPr kumimoji="1" lang="zh-CN" altLang="en-US" sz="1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74" name="文本框 1173">
                <a:extLst>
                  <a:ext uri="{FF2B5EF4-FFF2-40B4-BE49-F238E27FC236}">
                    <a16:creationId xmlns:a16="http://schemas.microsoft.com/office/drawing/2014/main" id="{BB7BC78A-67FF-35DD-8236-447EF9944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497" y="1690172"/>
                <a:ext cx="848374" cy="276999"/>
              </a:xfrm>
              <a:prstGeom prst="rect">
                <a:avLst/>
              </a:prstGeom>
              <a:blipFill>
                <a:blip r:embed="rId1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3" name="直线箭头连接符 1182">
            <a:extLst>
              <a:ext uri="{FF2B5EF4-FFF2-40B4-BE49-F238E27FC236}">
                <a16:creationId xmlns:a16="http://schemas.microsoft.com/office/drawing/2014/main" id="{C4AC7A0B-3159-0F99-DDFD-F357F7F30E2E}"/>
              </a:ext>
            </a:extLst>
          </p:cNvPr>
          <p:cNvCxnSpPr>
            <a:cxnSpLocks/>
            <a:stCxn id="1055" idx="3"/>
            <a:endCxn id="1170" idx="1"/>
          </p:cNvCxnSpPr>
          <p:nvPr/>
        </p:nvCxnSpPr>
        <p:spPr>
          <a:xfrm>
            <a:off x="2981222" y="733689"/>
            <a:ext cx="742969" cy="6709"/>
          </a:xfrm>
          <a:prstGeom prst="straightConnector1">
            <a:avLst/>
          </a:prstGeom>
          <a:ln>
            <a:solidFill>
              <a:srgbClr val="F443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直线箭头连接符 1185">
            <a:extLst>
              <a:ext uri="{FF2B5EF4-FFF2-40B4-BE49-F238E27FC236}">
                <a16:creationId xmlns:a16="http://schemas.microsoft.com/office/drawing/2014/main" id="{D388ABEE-D9DB-0B91-0981-01BA0574C0F6}"/>
              </a:ext>
            </a:extLst>
          </p:cNvPr>
          <p:cNvCxnSpPr>
            <a:cxnSpLocks/>
            <a:stCxn id="1060" idx="3"/>
            <a:endCxn id="1171" idx="1"/>
          </p:cNvCxnSpPr>
          <p:nvPr/>
        </p:nvCxnSpPr>
        <p:spPr>
          <a:xfrm>
            <a:off x="2981221" y="1082003"/>
            <a:ext cx="740277" cy="4317"/>
          </a:xfrm>
          <a:prstGeom prst="straightConnector1">
            <a:avLst/>
          </a:prstGeom>
          <a:ln>
            <a:solidFill>
              <a:srgbClr val="F443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直线箭头连接符 1186">
            <a:extLst>
              <a:ext uri="{FF2B5EF4-FFF2-40B4-BE49-F238E27FC236}">
                <a16:creationId xmlns:a16="http://schemas.microsoft.com/office/drawing/2014/main" id="{76D3EE24-2683-F5BF-A2AF-C1F2F025E160}"/>
              </a:ext>
            </a:extLst>
          </p:cNvPr>
          <p:cNvCxnSpPr>
            <a:cxnSpLocks/>
            <a:stCxn id="1064" idx="3"/>
            <a:endCxn id="1172" idx="1"/>
          </p:cNvCxnSpPr>
          <p:nvPr/>
        </p:nvCxnSpPr>
        <p:spPr>
          <a:xfrm>
            <a:off x="2981220" y="1451725"/>
            <a:ext cx="740277" cy="1162"/>
          </a:xfrm>
          <a:prstGeom prst="straightConnector1">
            <a:avLst/>
          </a:prstGeom>
          <a:ln>
            <a:solidFill>
              <a:srgbClr val="F443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直线箭头连接符 1187">
            <a:extLst>
              <a:ext uri="{FF2B5EF4-FFF2-40B4-BE49-F238E27FC236}">
                <a16:creationId xmlns:a16="http://schemas.microsoft.com/office/drawing/2014/main" id="{E6076D56-1581-C035-66A2-F555BB872A41}"/>
              </a:ext>
            </a:extLst>
          </p:cNvPr>
          <p:cNvCxnSpPr>
            <a:cxnSpLocks/>
            <a:stCxn id="1059" idx="3"/>
            <a:endCxn id="1174" idx="1"/>
          </p:cNvCxnSpPr>
          <p:nvPr/>
        </p:nvCxnSpPr>
        <p:spPr>
          <a:xfrm>
            <a:off x="3143598" y="1824549"/>
            <a:ext cx="577899" cy="4123"/>
          </a:xfrm>
          <a:prstGeom prst="straightConnector1">
            <a:avLst/>
          </a:prstGeom>
          <a:ln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3" name="圆角矩形标注 1192">
            <a:extLst>
              <a:ext uri="{FF2B5EF4-FFF2-40B4-BE49-F238E27FC236}">
                <a16:creationId xmlns:a16="http://schemas.microsoft.com/office/drawing/2014/main" id="{C0F55789-2DB9-D7FF-0AF2-8C0AA2F19D58}"/>
              </a:ext>
            </a:extLst>
          </p:cNvPr>
          <p:cNvSpPr/>
          <p:nvPr/>
        </p:nvSpPr>
        <p:spPr>
          <a:xfrm>
            <a:off x="4667322" y="46023"/>
            <a:ext cx="1681164" cy="914202"/>
          </a:xfrm>
          <a:prstGeom prst="wedgeRoundRectCallout">
            <a:avLst>
              <a:gd name="adj1" fmla="val -59485"/>
              <a:gd name="adj2" fmla="val 36434"/>
              <a:gd name="adj3" fmla="val 16667"/>
            </a:avLst>
          </a:prstGeom>
          <a:noFill/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kumimoji="1" lang="en" altLang="zh-CN" sz="1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4" name="文本框 1193">
                <a:extLst>
                  <a:ext uri="{FF2B5EF4-FFF2-40B4-BE49-F238E27FC236}">
                    <a16:creationId xmlns:a16="http://schemas.microsoft.com/office/drawing/2014/main" id="{05FA8488-B3FC-F270-BF6A-C833E0D8DE11}"/>
                  </a:ext>
                </a:extLst>
              </p:cNvPr>
              <p:cNvSpPr txBox="1"/>
              <p:nvPr/>
            </p:nvSpPr>
            <p:spPr>
              <a:xfrm>
                <a:off x="3103889" y="1832787"/>
                <a:ext cx="1588516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" altLang="zh-CN" sz="105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kumimoji="1" lang="en" altLang="zh-CN" sz="105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" altLang="zh-CN" sz="105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en" altLang="zh-CN" sz="105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kumimoji="1" lang="en" altLang="zh-CN" sz="1050">
                          <a:latin typeface="Cambria Math" panose="02040503050406030204" pitchFamily="18" charset="0"/>
                        </a:rPr>
                        <m:t>∇</m:t>
                      </m:r>
                      <m:func>
                        <m:funcPr>
                          <m:ctrlP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" altLang="zh-CN" sz="105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d>
                        <m:dPr>
                          <m:ctrlPr>
                            <a:rPr kumimoji="1" lang="en" altLang="zh-CN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en" altLang="zh-CN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zh-CN" altLang="en-US" sz="1100" dirty="0"/>
              </a:p>
            </p:txBody>
          </p:sp>
        </mc:Choice>
        <mc:Fallback xmlns="">
          <p:sp>
            <p:nvSpPr>
              <p:cNvPr id="1194" name="文本框 1193">
                <a:extLst>
                  <a:ext uri="{FF2B5EF4-FFF2-40B4-BE49-F238E27FC236}">
                    <a16:creationId xmlns:a16="http://schemas.microsoft.com/office/drawing/2014/main" id="{05FA8488-B3FC-F270-BF6A-C833E0D8D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889" y="1832787"/>
                <a:ext cx="1588516" cy="483594"/>
              </a:xfrm>
              <a:prstGeom prst="rect">
                <a:avLst/>
              </a:prstGeom>
              <a:blipFill>
                <a:blip r:embed="rId18"/>
                <a:stretch>
                  <a:fillRect l="-7143" t="-117949" b="-164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7" name="文本框 1216">
            <a:extLst>
              <a:ext uri="{FF2B5EF4-FFF2-40B4-BE49-F238E27FC236}">
                <a16:creationId xmlns:a16="http://schemas.microsoft.com/office/drawing/2014/main" id="{72EF874B-BECE-6C7B-28F6-15ECA27983CE}"/>
              </a:ext>
            </a:extLst>
          </p:cNvPr>
          <p:cNvSpPr txBox="1"/>
          <p:nvPr/>
        </p:nvSpPr>
        <p:spPr>
          <a:xfrm>
            <a:off x="87713" y="193489"/>
            <a:ext cx="1623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Standard</a:t>
            </a:r>
            <a:r>
              <a:rPr kumimoji="1" lang="zh-CN" altLang="en-US" dirty="0"/>
              <a:t> </a:t>
            </a:r>
            <a:r>
              <a:rPr kumimoji="1" lang="en-US" altLang="zh-CN" dirty="0"/>
              <a:t>GRPO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8" name="文本框 1217">
                <a:extLst>
                  <a:ext uri="{FF2B5EF4-FFF2-40B4-BE49-F238E27FC236}">
                    <a16:creationId xmlns:a16="http://schemas.microsoft.com/office/drawing/2014/main" id="{BA4FC509-CF66-B219-95FC-DA7301A0A1B1}"/>
                  </a:ext>
                </a:extLst>
              </p:cNvPr>
              <p:cNvSpPr txBox="1"/>
              <p:nvPr/>
            </p:nvSpPr>
            <p:spPr>
              <a:xfrm>
                <a:off x="29038" y="1985216"/>
                <a:ext cx="976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dirty="0"/>
                  <a:t>Our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kumimoji="1"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218" name="文本框 1217">
                <a:extLst>
                  <a:ext uri="{FF2B5EF4-FFF2-40B4-BE49-F238E27FC236}">
                    <a16:creationId xmlns:a16="http://schemas.microsoft.com/office/drawing/2014/main" id="{BA4FC509-CF66-B219-95FC-DA7301A0A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8" y="1985216"/>
                <a:ext cx="976806" cy="369332"/>
              </a:xfrm>
              <a:prstGeom prst="rect">
                <a:avLst/>
              </a:prstGeom>
              <a:blipFill>
                <a:blip r:embed="rId19"/>
                <a:stretch>
                  <a:fillRect l="-5128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8" name="曲线连接符 1227">
            <a:extLst>
              <a:ext uri="{FF2B5EF4-FFF2-40B4-BE49-F238E27FC236}">
                <a16:creationId xmlns:a16="http://schemas.microsoft.com/office/drawing/2014/main" id="{CDF7E579-B5C7-B55D-DA14-A2A4BA023B50}"/>
              </a:ext>
            </a:extLst>
          </p:cNvPr>
          <p:cNvCxnSpPr>
            <a:cxnSpLocks/>
            <a:stCxn id="1157" idx="3"/>
            <a:endCxn id="1159" idx="3"/>
          </p:cNvCxnSpPr>
          <p:nvPr/>
        </p:nvCxnSpPr>
        <p:spPr>
          <a:xfrm flipH="1">
            <a:off x="3356375" y="3173347"/>
            <a:ext cx="113467" cy="388877"/>
          </a:xfrm>
          <a:prstGeom prst="curvedConnector3">
            <a:avLst>
              <a:gd name="adj1" fmla="val -201468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5" name="圆角矩形标注 1234">
            <a:extLst>
              <a:ext uri="{FF2B5EF4-FFF2-40B4-BE49-F238E27FC236}">
                <a16:creationId xmlns:a16="http://schemas.microsoft.com/office/drawing/2014/main" id="{7DB0C4E2-DA77-79EA-E621-A9B2E8902779}"/>
              </a:ext>
            </a:extLst>
          </p:cNvPr>
          <p:cNvSpPr/>
          <p:nvPr/>
        </p:nvSpPr>
        <p:spPr>
          <a:xfrm>
            <a:off x="2204838" y="3777895"/>
            <a:ext cx="2053315" cy="719835"/>
          </a:xfrm>
          <a:prstGeom prst="wedgeRoundRectCallout">
            <a:avLst>
              <a:gd name="adj1" fmla="val 12251"/>
              <a:gd name="adj2" fmla="val -68383"/>
              <a:gd name="adj3" fmla="val 16667"/>
            </a:avLst>
          </a:prstGeom>
          <a:noFill/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endParaRPr kumimoji="1" lang="en" altLang="zh-CN" sz="1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38" name="圆角矩形标注 1237">
            <a:extLst>
              <a:ext uri="{FF2B5EF4-FFF2-40B4-BE49-F238E27FC236}">
                <a16:creationId xmlns:a16="http://schemas.microsoft.com/office/drawing/2014/main" id="{A362A913-C1B9-EF86-2D9D-54D18A38ED77}"/>
              </a:ext>
            </a:extLst>
          </p:cNvPr>
          <p:cNvSpPr/>
          <p:nvPr/>
        </p:nvSpPr>
        <p:spPr>
          <a:xfrm>
            <a:off x="36926" y="3829199"/>
            <a:ext cx="2113661" cy="618705"/>
          </a:xfrm>
          <a:prstGeom prst="wedgeRoundRectCallout">
            <a:avLst>
              <a:gd name="adj1" fmla="val -31716"/>
              <a:gd name="adj2" fmla="val -63923"/>
              <a:gd name="adj3" fmla="val 16667"/>
            </a:avLst>
          </a:prstGeom>
          <a:noFill/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" altLang="zh-CN" sz="1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3" name="文本框 1242">
                <a:extLst>
                  <a:ext uri="{FF2B5EF4-FFF2-40B4-BE49-F238E27FC236}">
                    <a16:creationId xmlns:a16="http://schemas.microsoft.com/office/drawing/2014/main" id="{E2B735B5-4890-876D-A92E-9E7BDE5E10C4}"/>
                  </a:ext>
                </a:extLst>
              </p:cNvPr>
              <p:cNvSpPr txBox="1"/>
              <p:nvPr/>
            </p:nvSpPr>
            <p:spPr>
              <a:xfrm>
                <a:off x="4711374" y="2344270"/>
                <a:ext cx="8463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rgbClr val="F4433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rgbClr val="F44336"/>
                          </a:solidFill>
                          <a:latin typeface="Cambria Math" panose="02040503050406030204" pitchFamily="18" charset="0"/>
                        </a:rPr>
                        <m:t>)↓↓↓</m:t>
                      </m:r>
                    </m:oMath>
                  </m:oMathPara>
                </a14:m>
                <a:endParaRPr kumimoji="1" lang="zh-CN" altLang="en-US" sz="1200" dirty="0">
                  <a:solidFill>
                    <a:srgbClr val="F44336"/>
                  </a:solidFill>
                </a:endParaRPr>
              </a:p>
            </p:txBody>
          </p:sp>
        </mc:Choice>
        <mc:Fallback xmlns="">
          <p:sp>
            <p:nvSpPr>
              <p:cNvPr id="1243" name="文本框 1242">
                <a:extLst>
                  <a:ext uri="{FF2B5EF4-FFF2-40B4-BE49-F238E27FC236}">
                    <a16:creationId xmlns:a16="http://schemas.microsoft.com/office/drawing/2014/main" id="{E2B735B5-4890-876D-A92E-9E7BDE5E1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374" y="2344270"/>
                <a:ext cx="846386" cy="276999"/>
              </a:xfrm>
              <a:prstGeom prst="rect">
                <a:avLst/>
              </a:prstGeom>
              <a:blipFill>
                <a:blip r:embed="rId2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4" name="文本框 1243">
                <a:extLst>
                  <a:ext uri="{FF2B5EF4-FFF2-40B4-BE49-F238E27FC236}">
                    <a16:creationId xmlns:a16="http://schemas.microsoft.com/office/drawing/2014/main" id="{D9D0804F-7751-4098-8BD8-99265C2CCD15}"/>
                  </a:ext>
                </a:extLst>
              </p:cNvPr>
              <p:cNvSpPr txBox="1"/>
              <p:nvPr/>
            </p:nvSpPr>
            <p:spPr>
              <a:xfrm>
                <a:off x="4708679" y="2655557"/>
                <a:ext cx="9926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1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12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↑↑↑↑↑</m:t>
                      </m:r>
                    </m:oMath>
                  </m:oMathPara>
                </a14:m>
                <a:endParaRPr kumimoji="1" lang="zh-CN" altLang="en-US" sz="12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4" name="文本框 1243">
                <a:extLst>
                  <a:ext uri="{FF2B5EF4-FFF2-40B4-BE49-F238E27FC236}">
                    <a16:creationId xmlns:a16="http://schemas.microsoft.com/office/drawing/2014/main" id="{D9D0804F-7751-4098-8BD8-99265C2CC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679" y="2655557"/>
                <a:ext cx="992644" cy="276999"/>
              </a:xfrm>
              <a:prstGeom prst="rect">
                <a:avLst/>
              </a:prstGeom>
              <a:blipFill>
                <a:blip r:embed="rId2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5" name="文本框 1244">
                <a:extLst>
                  <a:ext uri="{FF2B5EF4-FFF2-40B4-BE49-F238E27FC236}">
                    <a16:creationId xmlns:a16="http://schemas.microsoft.com/office/drawing/2014/main" id="{8A06A3B2-07F9-C64E-752A-D8D7A6695A3E}"/>
                  </a:ext>
                </a:extLst>
              </p:cNvPr>
              <p:cNvSpPr txBox="1"/>
              <p:nvPr/>
            </p:nvSpPr>
            <p:spPr>
              <a:xfrm>
                <a:off x="4708679" y="3035976"/>
                <a:ext cx="8483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kumimoji="1" sz="900" i="1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2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1200">
                          <a:latin typeface="Cambria Math" panose="02040503050406030204" pitchFamily="18" charset="0"/>
                        </a:rPr>
                        <m:t>)↑↑↑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45" name="文本框 1244">
                <a:extLst>
                  <a:ext uri="{FF2B5EF4-FFF2-40B4-BE49-F238E27FC236}">
                    <a16:creationId xmlns:a16="http://schemas.microsoft.com/office/drawing/2014/main" id="{8A06A3B2-07F9-C64E-752A-D8D7A6695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679" y="3035976"/>
                <a:ext cx="848374" cy="276999"/>
              </a:xfrm>
              <a:prstGeom prst="rect">
                <a:avLst/>
              </a:prstGeom>
              <a:blipFill>
                <a:blip r:embed="rId22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6" name="文本框 1245">
                <a:extLst>
                  <a:ext uri="{FF2B5EF4-FFF2-40B4-BE49-F238E27FC236}">
                    <a16:creationId xmlns:a16="http://schemas.microsoft.com/office/drawing/2014/main" id="{990C5C72-A0C1-CB22-B2C6-DFF7AD538CDB}"/>
                  </a:ext>
                </a:extLst>
              </p:cNvPr>
              <p:cNvSpPr txBox="1"/>
              <p:nvPr/>
            </p:nvSpPr>
            <p:spPr>
              <a:xfrm>
                <a:off x="4708679" y="3425617"/>
                <a:ext cx="10647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CN" sz="1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zh-CN" sz="1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sz="12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)↑↑↑↑↑↑</m:t>
                      </m:r>
                    </m:oMath>
                  </m:oMathPara>
                </a14:m>
                <a:endParaRPr kumimoji="1" lang="zh-CN" altLang="en-US" sz="120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6" name="文本框 1245">
                <a:extLst>
                  <a:ext uri="{FF2B5EF4-FFF2-40B4-BE49-F238E27FC236}">
                    <a16:creationId xmlns:a16="http://schemas.microsoft.com/office/drawing/2014/main" id="{990C5C72-A0C1-CB22-B2C6-DFF7AD538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679" y="3425617"/>
                <a:ext cx="1064779" cy="276999"/>
              </a:xfrm>
              <a:prstGeom prst="rect">
                <a:avLst/>
              </a:prstGeom>
              <a:blipFill>
                <a:blip r:embed="rId2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7" name="直线箭头连接符 1246">
            <a:extLst>
              <a:ext uri="{FF2B5EF4-FFF2-40B4-BE49-F238E27FC236}">
                <a16:creationId xmlns:a16="http://schemas.microsoft.com/office/drawing/2014/main" id="{48E949D1-5814-8982-2672-B3536BBA3F6B}"/>
              </a:ext>
            </a:extLst>
          </p:cNvPr>
          <p:cNvCxnSpPr>
            <a:cxnSpLocks/>
            <a:stCxn id="1156" idx="3"/>
            <a:endCxn id="1243" idx="1"/>
          </p:cNvCxnSpPr>
          <p:nvPr/>
        </p:nvCxnSpPr>
        <p:spPr>
          <a:xfrm flipV="1">
            <a:off x="3523865" y="2482770"/>
            <a:ext cx="1187509" cy="1643"/>
          </a:xfrm>
          <a:prstGeom prst="straightConnector1">
            <a:avLst/>
          </a:prstGeom>
          <a:ln>
            <a:solidFill>
              <a:srgbClr val="F4433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8" name="直线箭头连接符 1247">
            <a:extLst>
              <a:ext uri="{FF2B5EF4-FFF2-40B4-BE49-F238E27FC236}">
                <a16:creationId xmlns:a16="http://schemas.microsoft.com/office/drawing/2014/main" id="{D7D7C721-0761-A47A-4032-4908C836683E}"/>
              </a:ext>
            </a:extLst>
          </p:cNvPr>
          <p:cNvCxnSpPr>
            <a:cxnSpLocks/>
            <a:stCxn id="1158" idx="3"/>
            <a:endCxn id="1244" idx="1"/>
          </p:cNvCxnSpPr>
          <p:nvPr/>
        </p:nvCxnSpPr>
        <p:spPr>
          <a:xfrm flipV="1">
            <a:off x="3209895" y="2794057"/>
            <a:ext cx="1498784" cy="3108"/>
          </a:xfrm>
          <a:prstGeom prst="straightConnector1">
            <a:avLst/>
          </a:prstGeom>
          <a:ln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0" name="直线箭头连接符 1249">
            <a:extLst>
              <a:ext uri="{FF2B5EF4-FFF2-40B4-BE49-F238E27FC236}">
                <a16:creationId xmlns:a16="http://schemas.microsoft.com/office/drawing/2014/main" id="{ACFFE987-3943-F682-7386-A51C861FE1C9}"/>
              </a:ext>
            </a:extLst>
          </p:cNvPr>
          <p:cNvCxnSpPr>
            <a:cxnSpLocks/>
          </p:cNvCxnSpPr>
          <p:nvPr/>
        </p:nvCxnSpPr>
        <p:spPr>
          <a:xfrm>
            <a:off x="3356375" y="3548370"/>
            <a:ext cx="1352304" cy="1893"/>
          </a:xfrm>
          <a:prstGeom prst="straightConnector1">
            <a:avLst/>
          </a:prstGeom>
          <a:ln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51" name="文本框 1250">
                <a:extLst>
                  <a:ext uri="{FF2B5EF4-FFF2-40B4-BE49-F238E27FC236}">
                    <a16:creationId xmlns:a16="http://schemas.microsoft.com/office/drawing/2014/main" id="{DE16E539-4F01-B2E1-D798-1C13221F9D43}"/>
                  </a:ext>
                </a:extLst>
              </p:cNvPr>
              <p:cNvSpPr txBox="1"/>
              <p:nvPr/>
            </p:nvSpPr>
            <p:spPr>
              <a:xfrm>
                <a:off x="4251280" y="3678494"/>
                <a:ext cx="2157457" cy="464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" altLang="zh-CN" sz="10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kumimoji="1" lang="en" altLang="zh-CN" sz="10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kumimoji="1" lang="en" altLang="zh-CN" sz="1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" altLang="zh-CN" sz="1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" altLang="zh-CN" sz="1000" b="1" i="1">
                              <a:latin typeface="Cambria Math" panose="02040503050406030204" pitchFamily="18" charset="0"/>
                            </a:rPr>
                            <m:t>𝑴𝒂𝒔</m:t>
                          </m:r>
                          <m:sSub>
                            <m:sSubPr>
                              <m:ctrlPr>
                                <a:rPr kumimoji="1" lang="en-US" altLang="zh-CN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kumimoji="1" lang="en-US" altLang="zh-CN" sz="1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1" lang="en" altLang="zh-CN" sz="10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kumimoji="1" lang="en-US" altLang="zh-CN" sz="1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0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kumimoji="1" lang="en-US" altLang="zh-CN" sz="1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1" lang="en-US" altLang="zh-CN" sz="10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kumimoji="1" lang="en" altLang="zh-CN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en" altLang="zh-CN" sz="1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en" altLang="zh-CN" sz="1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kumimoji="1" lang="en" altLang="zh-CN" sz="1000">
                          <a:latin typeface="Cambria Math" panose="02040503050406030204" pitchFamily="18" charset="0"/>
                        </a:rPr>
                        <m:t>∇</m:t>
                      </m:r>
                      <m:func>
                        <m:funcPr>
                          <m:ctrlPr>
                            <a:rPr kumimoji="1" lang="en" altLang="zh-CN" sz="1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" altLang="zh-CN" sz="10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" altLang="zh-CN" sz="10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d>
                        <m:dPr>
                          <m:ctrlPr>
                            <a:rPr kumimoji="1" lang="en" altLang="zh-CN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" altLang="zh-CN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" altLang="zh-CN" sz="10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en" altLang="zh-CN" sz="1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zh-CN" altLang="en-US" sz="1050" dirty="0"/>
              </a:p>
            </p:txBody>
          </p:sp>
        </mc:Choice>
        <mc:Fallback>
          <p:sp>
            <p:nvSpPr>
              <p:cNvPr id="1251" name="文本框 1250">
                <a:extLst>
                  <a:ext uri="{FF2B5EF4-FFF2-40B4-BE49-F238E27FC236}">
                    <a16:creationId xmlns:a16="http://schemas.microsoft.com/office/drawing/2014/main" id="{DE16E539-4F01-B2E1-D798-1C13221F9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280" y="3678494"/>
                <a:ext cx="2157457" cy="464935"/>
              </a:xfrm>
              <a:prstGeom prst="rect">
                <a:avLst/>
              </a:prstGeom>
              <a:blipFill>
                <a:blip r:embed="rId24"/>
                <a:stretch>
                  <a:fillRect l="-4678" t="-102632" b="-1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5" name="圆角矩形标注 1254">
            <a:extLst>
              <a:ext uri="{FF2B5EF4-FFF2-40B4-BE49-F238E27FC236}">
                <a16:creationId xmlns:a16="http://schemas.microsoft.com/office/drawing/2014/main" id="{9005FB02-D141-22AC-1C5D-35EE034819F7}"/>
              </a:ext>
            </a:extLst>
          </p:cNvPr>
          <p:cNvSpPr/>
          <p:nvPr/>
        </p:nvSpPr>
        <p:spPr>
          <a:xfrm>
            <a:off x="4676546" y="1224819"/>
            <a:ext cx="1671940" cy="1016351"/>
          </a:xfrm>
          <a:prstGeom prst="wedgeRoundRectCallout">
            <a:avLst>
              <a:gd name="adj1" fmla="val -19928"/>
              <a:gd name="adj2" fmla="val 61196"/>
              <a:gd name="adj3" fmla="val 16667"/>
            </a:avLst>
          </a:prstGeom>
          <a:noFill/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endParaRPr kumimoji="1" lang="en" altLang="zh-CN" sz="12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CC05DE-4023-FF8A-38F8-C88455E6E903}"/>
              </a:ext>
            </a:extLst>
          </p:cNvPr>
          <p:cNvSpPr txBox="1"/>
          <p:nvPr/>
        </p:nvSpPr>
        <p:spPr>
          <a:xfrm>
            <a:off x="1251460" y="1078016"/>
            <a:ext cx="1148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</a:t>
            </a:r>
            <a:r>
              <a:rPr kumimoji="1" lang="en-US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2</a:t>
            </a: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</a:t>
            </a:r>
            <a:r>
              <a:rPr kumimoji="1" lang="zh-CN" altLang="en-US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Valid Prefix Penalized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3A356A-6F2C-68B7-1034-F62269F12324}"/>
              </a:ext>
            </a:extLst>
          </p:cNvPr>
          <p:cNvSpPr txBox="1"/>
          <p:nvPr/>
        </p:nvSpPr>
        <p:spPr>
          <a:xfrm>
            <a:off x="4648251" y="80698"/>
            <a:ext cx="17738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</a:t>
            </a:r>
            <a:r>
              <a:rPr kumimoji="1" lang="en-US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3</a:t>
            </a: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 Gradient Asymmetry: More “</a:t>
            </a:r>
            <a:r>
              <a:rPr kumimoji="1" lang="en" altLang="zh-CN" sz="1200" dirty="0">
                <a:solidFill>
                  <a:srgbClr val="F44336"/>
                </a:solidFill>
                <a:latin typeface="Calibri" panose="020F0502020204030204"/>
                <a:ea typeface="等线" panose="02010600030101010101" pitchFamily="2" charset="-122"/>
              </a:rPr>
              <a:t>Avoid This</a:t>
            </a: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” Than “</a:t>
            </a:r>
            <a:r>
              <a:rPr kumimoji="1" lang="en" altLang="zh-CN" sz="1200" dirty="0">
                <a:solidFill>
                  <a:srgbClr val="4CAF50"/>
                </a:solidFill>
                <a:latin typeface="Calibri" panose="020F0502020204030204"/>
                <a:ea typeface="等线" panose="02010600030101010101" pitchFamily="2" charset="-122"/>
              </a:rPr>
              <a:t>Do This</a:t>
            </a: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” Leading</a:t>
            </a:r>
            <a:r>
              <a:rPr kumimoji="1" lang="zh-CN" altLang="en-US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to</a:t>
            </a:r>
            <a:r>
              <a:rPr kumimoji="1" lang="en" altLang="zh-CN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Probability Dispersion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1692F3F-06E6-25B0-71F9-E568349FD304}"/>
                  </a:ext>
                </a:extLst>
              </p:cNvPr>
              <p:cNvSpPr txBox="1"/>
              <p:nvPr/>
            </p:nvSpPr>
            <p:spPr>
              <a:xfrm>
                <a:off x="4658921" y="1318659"/>
                <a:ext cx="191206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kumimoji="1" lang="en" altLang="zh-CN" sz="1200" dirty="0">
                    <a:solidFill>
                      <a:prstClr val="black"/>
                    </a:solidFill>
                  </a:rPr>
                  <a:t>S3: Positive Amplification by Scaling Constructive Gradients with </a:t>
                </a:r>
                <a14:m>
                  <m:oMath xmlns:m="http://schemas.openxmlformats.org/officeDocument/2006/math">
                    <m:r>
                      <a:rPr kumimoji="1" lang="en-US" altLang="zh-CN" sz="1200" b="1" i="1">
                        <a:solidFill>
                          <a:srgbClr val="70AD47">
                            <a:lumMod val="75000"/>
                          </a:srgbClr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" altLang="zh-CN" sz="1200" dirty="0">
                    <a:solidFill>
                      <a:prstClr val="black"/>
                    </a:solidFill>
                  </a:rPr>
                  <a:t> to Dominate Optimization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1692F3F-06E6-25B0-71F9-E568349FD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921" y="1318659"/>
                <a:ext cx="1912064" cy="830997"/>
              </a:xfrm>
              <a:prstGeom prst="rect">
                <a:avLst/>
              </a:prstGeom>
              <a:blipFill>
                <a:blip r:embed="rId25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E5E5A5B6-8362-2162-409C-A8E0D4D69A52}"/>
              </a:ext>
            </a:extLst>
          </p:cNvPr>
          <p:cNvSpPr txBox="1"/>
          <p:nvPr/>
        </p:nvSpPr>
        <p:spPr>
          <a:xfrm>
            <a:off x="15184" y="3806015"/>
            <a:ext cx="2406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S2: Pivotal Credit Assignment by </a:t>
            </a:r>
            <a:r>
              <a:rPr kumimoji="1" lang="en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Masking</a:t>
            </a:r>
            <a:r>
              <a:rPr kumimoji="1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Shared Prefix and Updating Only Diverging Suffix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20189A-A3CD-6002-B186-57075E7EC39C}"/>
              </a:ext>
            </a:extLst>
          </p:cNvPr>
          <p:cNvSpPr txBox="1"/>
          <p:nvPr/>
        </p:nvSpPr>
        <p:spPr>
          <a:xfrm>
            <a:off x="2276873" y="3722309"/>
            <a:ext cx="2172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S1: Reflect-Retry for Active Exploration using Language Feedback to Diagnose Errors and Restart from Pivot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A8CBEE52-0D2D-7A7F-68E6-2D7CB64E9218}"/>
              </a:ext>
            </a:extLst>
          </p:cNvPr>
          <p:cNvCxnSpPr>
            <a:cxnSpLocks/>
            <a:stCxn id="1157" idx="3"/>
            <a:endCxn id="1245" idx="1"/>
          </p:cNvCxnSpPr>
          <p:nvPr/>
        </p:nvCxnSpPr>
        <p:spPr>
          <a:xfrm>
            <a:off x="3469842" y="3173347"/>
            <a:ext cx="1238837" cy="1129"/>
          </a:xfrm>
          <a:prstGeom prst="straightConnector1">
            <a:avLst/>
          </a:prstGeom>
          <a:ln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B6224A8-D267-A85A-C7E1-AAE58E3B4F9E}"/>
              </a:ext>
            </a:extLst>
          </p:cNvPr>
          <p:cNvSpPr txBox="1"/>
          <p:nvPr/>
        </p:nvSpPr>
        <p:spPr>
          <a:xfrm>
            <a:off x="3710250" y="2501122"/>
            <a:ext cx="9348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Reflect-Retry</a:t>
            </a:r>
            <a:endParaRPr kumimoji="1" lang="zh-CN" altLang="en-US" sz="11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C233F4-4906-D134-6265-1181AE146AA3}"/>
              </a:ext>
            </a:extLst>
          </p:cNvPr>
          <p:cNvSpPr txBox="1"/>
          <p:nvPr/>
        </p:nvSpPr>
        <p:spPr>
          <a:xfrm>
            <a:off x="3667725" y="3224527"/>
            <a:ext cx="9348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Reflect-Retry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6405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12662</TotalTime>
  <Words>170</Words>
  <Application>Microsoft Macintosh PowerPoint</Application>
  <PresentationFormat>自定义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 Weijie</dc:creator>
  <cp:lastModifiedBy>伟杰 史</cp:lastModifiedBy>
  <cp:revision>570</cp:revision>
  <dcterms:created xsi:type="dcterms:W3CDTF">2025-10-17T05:37:31Z</dcterms:created>
  <dcterms:modified xsi:type="dcterms:W3CDTF">2026-01-05T08:01:39Z</dcterms:modified>
</cp:coreProperties>
</file>